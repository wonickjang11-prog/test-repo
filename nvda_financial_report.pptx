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88952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76B900"/>
                </a:solidFill>
                <a:latin typeface="맑은 고딕"/>
              </a:defRPr>
            </a:pPr>
            <a:r>
              <a:t>NVIDIA (NVDA)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CCCCC"/>
                </a:solidFill>
                <a:latin typeface="맑은 고딕"/>
              </a:defRPr>
            </a:pPr>
            <a:r>
              <a:t>Quarterly Financial Report  |  FY2024 - FY2025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맑은 고딕"/>
              </a:defRPr>
            </a:pPr>
            <a:r>
              <a:t>Income Statement  /  Revenue &amp; Profit Analysis  /  Margins &amp; EPS Trend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Data Source: stockanalysis.com  |  Generated by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Q4 FY2025 Key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18288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t>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6B900"/>
                </a:solidFill>
                <a:latin typeface="맑은 고딕"/>
              </a:defRPr>
            </a:pPr>
            <a:r>
              <a:t>$39,331M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맑은 고딕"/>
              </a:defRPr>
            </a:pPr>
            <a:r>
              <a:t>+12.1% QoQ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18288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t>Net Income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맑은 고딕"/>
              </a:defRPr>
            </a:pPr>
            <a:r>
              <a:t>$22,091M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맑은 고딕"/>
              </a:defRPr>
            </a:pPr>
            <a:r>
              <a:t>+14.4% QoQ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474720" cy="18288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t>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8288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8C00"/>
                </a:solidFill>
                <a:latin typeface="맑은 고딕"/>
              </a:defRPr>
            </a:pPr>
            <a:r>
              <a:t>$8.87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맑은 고딕"/>
              </a:defRPr>
            </a:pPr>
            <a:r>
              <a:t>+14.3% QoQ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74720"/>
            <a:ext cx="3474720" cy="18288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t>Gross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BB86FC"/>
                </a:solidFill>
                <a:latin typeface="맑은 고딕"/>
              </a:defRPr>
            </a:pPr>
            <a:r>
              <a:t>77.9%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맑은 고딕"/>
              </a:defRPr>
            </a:pPr>
            <a:r>
              <a:t>vs 78.3% prev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474720"/>
            <a:ext cx="3474720" cy="18288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t>Operating Margin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1148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3DAC6"/>
                </a:solidFill>
                <a:latin typeface="맑은 고딕"/>
              </a:defRPr>
            </a:pPr>
            <a:r>
              <a:t>66.2%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754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맑은 고딕"/>
              </a:defRPr>
            </a:pPr>
            <a:r>
              <a:t>vs 66.3% prev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474720"/>
            <a:ext cx="3474720" cy="18288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t>YoY Revenue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1148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4545"/>
                </a:solidFill>
                <a:latin typeface="맑은 고딕"/>
              </a:defRPr>
            </a:pPr>
            <a:r>
              <a:t>+78%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754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맑은 고딕"/>
              </a:defRPr>
            </a:pPr>
            <a:r>
              <a:t>vs Q4 FY2024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Income Statement (Quarterly)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5214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76B900"/>
                          </a:solidFill>
                          <a:latin typeface="맑은 고딕"/>
                        </a:defRPr>
                      </a:pPr>
                      <a:r>
                        <a:t>Metric ($ millions)</a:t>
                      </a:r>
                    </a:p>
                  </a:txBody>
                  <a:tcPr anchor="ctr"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76B900"/>
                          </a:solidFill>
                          <a:latin typeface="맑은 고딕"/>
                        </a:defRPr>
                      </a:pPr>
                      <a:r>
                        <a:t>Q1 2024</a:t>
                      </a:r>
                    </a:p>
                  </a:txBody>
                  <a:tcPr anchor="ctr"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76B900"/>
                          </a:solidFill>
                          <a:latin typeface="맑은 고딕"/>
                        </a:defRPr>
                      </a:pPr>
                      <a:r>
                        <a:t>Q2 2024</a:t>
                      </a:r>
                    </a:p>
                  </a:txBody>
                  <a:tcPr anchor="ctr"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76B900"/>
                          </a:solidFill>
                          <a:latin typeface="맑은 고딕"/>
                        </a:defRPr>
                      </a:pPr>
                      <a:r>
                        <a:t>Q3 2024</a:t>
                      </a:r>
                    </a:p>
                  </a:txBody>
                  <a:tcPr anchor="ctr"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76B900"/>
                          </a:solidFill>
                          <a:latin typeface="맑은 고딕"/>
                        </a:defRPr>
                      </a:pPr>
                      <a:r>
                        <a:t>Q4 2024</a:t>
                      </a:r>
                    </a:p>
                  </a:txBody>
                  <a:tcPr anchor="ctr"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76B900"/>
                          </a:solidFill>
                          <a:latin typeface="맑은 고딕"/>
                        </a:defRPr>
                      </a:pPr>
                      <a:r>
                        <a:t>Q1 2025</a:t>
                      </a:r>
                    </a:p>
                  </a:txBody>
                  <a:tcPr anchor="ctr"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76B900"/>
                          </a:solidFill>
                          <a:latin typeface="맑은 고딕"/>
                        </a:defRPr>
                      </a:pPr>
                      <a:r>
                        <a:t>Q2 2025</a:t>
                      </a:r>
                    </a:p>
                  </a:txBody>
                  <a:tcPr anchor="ctr"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76B900"/>
                          </a:solidFill>
                          <a:latin typeface="맑은 고딕"/>
                        </a:defRPr>
                      </a:pPr>
                      <a:r>
                        <a:t>Q3 2025</a:t>
                      </a:r>
                    </a:p>
                  </a:txBody>
                  <a:tcPr anchor="ctr"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76B900"/>
                          </a:solidFill>
                          <a:latin typeface="맑은 고딕"/>
                        </a:defRPr>
                      </a:pPr>
                      <a:r>
                        <a:t>Q4 2025</a:t>
                      </a:r>
                    </a:p>
                  </a:txBody>
                  <a:tcPr anchor="ctr">
                    <a:solidFill>
                      <a:srgbClr val="30305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Revenue</a:t>
                      </a:r>
                    </a:p>
                  </a:txBody>
                  <a:tcPr anchor="ctr"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$7,192</a:t>
                      </a:r>
                    </a:p>
                  </a:txBody>
                  <a:tcPr anchor="ctr"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$13,507</a:t>
                      </a:r>
                    </a:p>
                  </a:txBody>
                  <a:tcPr anchor="ctr"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$18,120</a:t>
                      </a:r>
                    </a:p>
                  </a:txBody>
                  <a:tcPr anchor="ctr"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$22,103</a:t>
                      </a:r>
                    </a:p>
                  </a:txBody>
                  <a:tcPr anchor="ctr"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$26,044</a:t>
                      </a:r>
                    </a:p>
                  </a:txBody>
                  <a:tcPr anchor="ctr"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$30,040</a:t>
                      </a:r>
                    </a:p>
                  </a:txBody>
                  <a:tcPr anchor="ctr"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$35,082</a:t>
                      </a:r>
                    </a:p>
                  </a:txBody>
                  <a:tcPr anchor="ctr"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$39,331</a:t>
                      </a:r>
                    </a:p>
                  </a:txBody>
                  <a:tcPr anchor="ctr">
                    <a:solidFill>
                      <a:srgbClr val="25253D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Cost of Revenue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$2,544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$4,045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$4,720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$5,312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$5,638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$6,599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$7,606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$8,695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Gross Profit</a:t>
                      </a:r>
                    </a:p>
                  </a:txBody>
                  <a:tcPr anchor="ctr"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$4,648</a:t>
                      </a:r>
                    </a:p>
                  </a:txBody>
                  <a:tcPr anchor="ctr"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$9,462</a:t>
                      </a:r>
                    </a:p>
                  </a:txBody>
                  <a:tcPr anchor="ctr"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$13,400</a:t>
                      </a:r>
                    </a:p>
                  </a:txBody>
                  <a:tcPr anchor="ctr"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$16,791</a:t>
                      </a:r>
                    </a:p>
                  </a:txBody>
                  <a:tcPr anchor="ctr"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$20,406</a:t>
                      </a:r>
                    </a:p>
                  </a:txBody>
                  <a:tcPr anchor="ctr"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$23,441</a:t>
                      </a:r>
                    </a:p>
                  </a:txBody>
                  <a:tcPr anchor="ctr"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$27,476</a:t>
                      </a:r>
                    </a:p>
                  </a:txBody>
                  <a:tcPr anchor="ctr"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$30,636</a:t>
                      </a:r>
                    </a:p>
                  </a:txBody>
                  <a:tcPr anchor="ctr">
                    <a:solidFill>
                      <a:srgbClr val="25253D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Operating Income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$2,662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$6,800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$10,417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$13,615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$16,909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$19,521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$23,276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$26,033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Net Income</a:t>
                      </a:r>
                    </a:p>
                  </a:txBody>
                  <a:tcPr anchor="ctr"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$2,043</a:t>
                      </a:r>
                    </a:p>
                  </a:txBody>
                  <a:tcPr anchor="ctr"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$6,188</a:t>
                      </a:r>
                    </a:p>
                  </a:txBody>
                  <a:tcPr anchor="ctr"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$9,243</a:t>
                      </a:r>
                    </a:p>
                  </a:txBody>
                  <a:tcPr anchor="ctr"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$12,285</a:t>
                      </a:r>
                    </a:p>
                  </a:txBody>
                  <a:tcPr anchor="ctr"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$14,881</a:t>
                      </a:r>
                    </a:p>
                  </a:txBody>
                  <a:tcPr anchor="ctr"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$16,599</a:t>
                      </a:r>
                    </a:p>
                  </a:txBody>
                  <a:tcPr anchor="ctr"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$19,309</a:t>
                      </a:r>
                    </a:p>
                  </a:txBody>
                  <a:tcPr anchor="ctr"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$22,091</a:t>
                      </a:r>
                    </a:p>
                  </a:txBody>
                  <a:tcPr anchor="ctr">
                    <a:solidFill>
                      <a:srgbClr val="25253D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EPS ($)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$0.82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$2.48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$3.71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$4.93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$5.98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$6.67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$7.76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$8.87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Revenue vs Net Income</a:t>
            </a:r>
          </a:p>
        </p:txBody>
      </p:sp>
      <p:pic>
        <p:nvPicPr>
          <p:cNvPr id="3" name="Picture 2" descr="nvda_revenu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Profitability Margins Trend</a:t>
            </a:r>
          </a:p>
        </p:txBody>
      </p:sp>
      <p:pic>
        <p:nvPicPr>
          <p:cNvPr id="3" name="Picture 2" descr="nvda_margi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Revenue &amp; EPS Growth</a:t>
            </a:r>
          </a:p>
        </p:txBody>
      </p:sp>
      <p:pic>
        <p:nvPicPr>
          <p:cNvPr id="3" name="Picture 2" descr="nvda_ep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Year-over-Year Growth</a:t>
            </a:r>
          </a:p>
        </p:txBody>
      </p:sp>
      <p:pic>
        <p:nvPicPr>
          <p:cNvPr id="3" name="Picture 2" descr="nvda_yo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88952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76B900"/>
                </a:solidFill>
                <a:latin typeface="맑은 고딕"/>
              </a:defRPr>
            </a:pPr>
            <a:r>
              <a:t>NVIDIA Financial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맑은 고딕"/>
              </a:defRPr>
            </a:pPr>
            <a:r>
              <a:t>Q4 FY2025 Revenue: $39,331M  |  Net Income: $22,091M  |  EPS: $8.87  |  YoY Revenue Growth: +78%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Source: stockanalysis.com  |  Generated with Python &amp; python-pptx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